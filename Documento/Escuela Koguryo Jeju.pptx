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aleway"/>
      <p:regular r:id="rId20"/>
      <p:bold r:id="rId21"/>
      <p:italic r:id="rId22"/>
      <p:boldItalic r:id="rId23"/>
    </p:embeddedFont>
    <p:embeddedFont>
      <p:font typeface="Zalando Sans Expanded Black"/>
      <p:bold r:id="rId24"/>
      <p:boldItalic r:id="rId25"/>
    </p:embeddedFont>
    <p:embeddedFont>
      <p:font typeface="Zalando Sans Expanded"/>
      <p:regular r:id="rId26"/>
      <p:bold r:id="rId27"/>
      <p:italic r:id="rId28"/>
      <p:boldItalic r:id="rId29"/>
    </p:embeddedFont>
    <p:embeddedFont>
      <p:font typeface="Zalando Sans Expanded ExtraBold"/>
      <p:bold r:id="rId30"/>
      <p:boldItalic r:id="rId31"/>
    </p:embeddedFont>
    <p:embeddedFont>
      <p:font typeface="Zalando Sans Expanded ExtraLight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regular.fntdata"/><Relationship Id="rId22" Type="http://schemas.openxmlformats.org/officeDocument/2006/relationships/font" Target="fonts/Raleway-italic.fntdata"/><Relationship Id="rId21" Type="http://schemas.openxmlformats.org/officeDocument/2006/relationships/font" Target="fonts/Raleway-bold.fntdata"/><Relationship Id="rId24" Type="http://schemas.openxmlformats.org/officeDocument/2006/relationships/font" Target="fonts/ZalandoSansExpandedBlack-bold.fntdata"/><Relationship Id="rId23" Type="http://schemas.openxmlformats.org/officeDocument/2006/relationships/font" Target="fonts/Raleway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ZalandoSansExpanded-regular.fntdata"/><Relationship Id="rId25" Type="http://schemas.openxmlformats.org/officeDocument/2006/relationships/font" Target="fonts/ZalandoSansExpandedBlack-boldItalic.fntdata"/><Relationship Id="rId28" Type="http://schemas.openxmlformats.org/officeDocument/2006/relationships/font" Target="fonts/ZalandoSansExpanded-italic.fntdata"/><Relationship Id="rId27" Type="http://schemas.openxmlformats.org/officeDocument/2006/relationships/font" Target="fonts/ZalandoSansExpande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ZalandoSansExpande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ZalandoSansExpandedExtraBold-boldItalic.fntdata"/><Relationship Id="rId30" Type="http://schemas.openxmlformats.org/officeDocument/2006/relationships/font" Target="fonts/ZalandoSansExpandedExtraBold-bold.fntdata"/><Relationship Id="rId11" Type="http://schemas.openxmlformats.org/officeDocument/2006/relationships/slide" Target="slides/slide6.xml"/><Relationship Id="rId33" Type="http://schemas.openxmlformats.org/officeDocument/2006/relationships/font" Target="fonts/ZalandoSansExpandedExtraLight-bold.fntdata"/><Relationship Id="rId10" Type="http://schemas.openxmlformats.org/officeDocument/2006/relationships/slide" Target="slides/slide5.xml"/><Relationship Id="rId32" Type="http://schemas.openxmlformats.org/officeDocument/2006/relationships/font" Target="fonts/ZalandoSansExpandedExtraLight-regular.fntdata"/><Relationship Id="rId13" Type="http://schemas.openxmlformats.org/officeDocument/2006/relationships/slide" Target="slides/slide8.xml"/><Relationship Id="rId35" Type="http://schemas.openxmlformats.org/officeDocument/2006/relationships/font" Target="fonts/ZalandoSansExpandedExtraLight-boldItalic.fntdata"/><Relationship Id="rId12" Type="http://schemas.openxmlformats.org/officeDocument/2006/relationships/slide" Target="slides/slide7.xml"/><Relationship Id="rId34" Type="http://schemas.openxmlformats.org/officeDocument/2006/relationships/font" Target="fonts/ZalandoSansExpandedExtraLight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468e5ebd162499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468e5ebd162499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bba557335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bba557335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c21124973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c21124973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bba557335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bba557335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bba557335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bba557335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ba5573358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bba5573358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bba5573358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bba5573358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ba5573358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bba5573358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bb4caca4f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bb4caca4f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bba5573358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bba5573358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bba5573358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bba5573358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211249739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c211249739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4d9bb308f7acc6b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4d9bb308f7acc6b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jpg"/><Relationship Id="rId4" Type="http://schemas.openxmlformats.org/officeDocument/2006/relationships/image" Target="../media/image1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075848" y="2200346"/>
            <a:ext cx="4992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600">
                <a:solidFill>
                  <a:schemeClr val="dk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KOGURYO </a:t>
            </a:r>
            <a:r>
              <a:rPr b="1" lang="es" sz="3600">
                <a:solidFill>
                  <a:schemeClr val="accent4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JEJU</a:t>
            </a:r>
            <a:r>
              <a:rPr b="1" lang="es" sz="3600">
                <a:solidFill>
                  <a:schemeClr val="dk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 </a:t>
            </a:r>
            <a:endParaRPr b="1" sz="3600">
              <a:solidFill>
                <a:schemeClr val="dk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993900" y="501625"/>
            <a:ext cx="284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Zalando Sans Expanded Black"/>
                <a:ea typeface="Zalando Sans Expanded Black"/>
                <a:cs typeface="Zalando Sans Expanded Black"/>
                <a:sym typeface="Zalando Sans Expanded Black"/>
              </a:rPr>
              <a:t>QUIENES SOMOS</a:t>
            </a:r>
            <a:endParaRPr>
              <a:solidFill>
                <a:schemeClr val="lt1"/>
              </a:solidFill>
              <a:latin typeface="Zalando Sans Expanded Black"/>
              <a:ea typeface="Zalando Sans Expanded Black"/>
              <a:cs typeface="Zalando Sans Expanded Black"/>
              <a:sym typeface="Zalando Sans Expanded Black"/>
            </a:endParaRPr>
          </a:p>
        </p:txBody>
      </p:sp>
      <p:sp>
        <p:nvSpPr>
          <p:cNvPr id="60" name="Google Shape;60;p14"/>
          <p:cNvSpPr txBox="1"/>
          <p:nvPr/>
        </p:nvSpPr>
        <p:spPr>
          <a:xfrm>
            <a:off x="4690675" y="433600"/>
            <a:ext cx="3843900" cy="43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lt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Jeju es un lugar.</a:t>
            </a:r>
            <a:endParaRPr sz="900">
              <a:solidFill>
                <a:schemeClr val="lt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lt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Es un origen.</a:t>
            </a:r>
            <a:endParaRPr sz="900">
              <a:solidFill>
                <a:schemeClr val="lt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lt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Una isla forjada por viento, piedra y disciplina.</a:t>
            </a:r>
            <a:endParaRPr sz="900">
              <a:solidFill>
                <a:schemeClr val="lt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lt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Donde el Taekwon-Do dejó de ser técnica</a:t>
            </a:r>
            <a:endParaRPr sz="900">
              <a:solidFill>
                <a:schemeClr val="lt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lt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y se convirtió en camino.</a:t>
            </a:r>
            <a:endParaRPr sz="900">
              <a:solidFill>
                <a:schemeClr val="lt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lt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No entrenamos para golpear.</a:t>
            </a:r>
            <a:endParaRPr sz="900">
              <a:solidFill>
                <a:schemeClr val="lt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lt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Entrenamos para ser más fuertes.</a:t>
            </a:r>
            <a:endParaRPr sz="900">
              <a:solidFill>
                <a:schemeClr val="lt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lt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Porque cuando el cuerpo duda, </a:t>
            </a:r>
            <a:endParaRPr sz="900">
              <a:solidFill>
                <a:schemeClr val="lt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lt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la disciplina sostiene.</a:t>
            </a:r>
            <a:endParaRPr sz="900">
              <a:solidFill>
                <a:schemeClr val="lt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lt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Cuando la mente cae, la tenacidad empuja.</a:t>
            </a:r>
            <a:endParaRPr sz="900">
              <a:solidFill>
                <a:schemeClr val="lt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lt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Cada puño cerrado es una promesa.</a:t>
            </a:r>
            <a:endParaRPr sz="900">
              <a:solidFill>
                <a:schemeClr val="lt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lt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No al rival.</a:t>
            </a:r>
            <a:endParaRPr sz="900">
              <a:solidFill>
                <a:schemeClr val="lt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lt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A uno mismo.</a:t>
            </a:r>
            <a:endParaRPr sz="900">
              <a:solidFill>
                <a:schemeClr val="lt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lt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El verdadero combate</a:t>
            </a:r>
            <a:endParaRPr sz="900">
              <a:solidFill>
                <a:schemeClr val="lt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lt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no está enfrente,</a:t>
            </a:r>
            <a:endParaRPr sz="900">
              <a:solidFill>
                <a:schemeClr val="lt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lt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está dentro.</a:t>
            </a:r>
            <a:endParaRPr sz="900">
              <a:solidFill>
                <a:schemeClr val="lt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lt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Honramos la raíz.</a:t>
            </a:r>
            <a:endParaRPr sz="900">
              <a:solidFill>
                <a:schemeClr val="lt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lt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Caminamos en el presente.</a:t>
            </a:r>
            <a:endParaRPr sz="900">
              <a:solidFill>
                <a:schemeClr val="lt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lt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Construyendo carácter en movimiento.</a:t>
            </a:r>
            <a:endParaRPr sz="900">
              <a:solidFill>
                <a:schemeClr val="lt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lt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Taekwon-Do no es lo que hacés.</a:t>
            </a:r>
            <a:endParaRPr sz="900">
              <a:solidFill>
                <a:schemeClr val="lt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lt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Es lo que sos, cuando nadie mira.</a:t>
            </a:r>
            <a:endParaRPr sz="900">
              <a:solidFill>
                <a:schemeClr val="lt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lt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En Jeju, el Do no se explica.</a:t>
            </a:r>
            <a:endParaRPr sz="900">
              <a:solidFill>
                <a:schemeClr val="lt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lt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Se recorre.</a:t>
            </a:r>
            <a:endParaRPr sz="900">
              <a:solidFill>
                <a:schemeClr val="lt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lt1"/>
                </a:solidFill>
                <a:latin typeface="Zalando Sans Expanded ExtraBold"/>
                <a:ea typeface="Zalando Sans Expanded ExtraBold"/>
                <a:cs typeface="Zalando Sans Expanded ExtraBold"/>
                <a:sym typeface="Zalando Sans Expanded ExtraBold"/>
              </a:rPr>
              <a:t>JEJU, el camino importa.</a:t>
            </a:r>
            <a:endParaRPr sz="700">
              <a:solidFill>
                <a:schemeClr val="lt1"/>
              </a:solidFill>
              <a:latin typeface="Zalando Sans Expanded ExtraBold"/>
              <a:ea typeface="Zalando Sans Expanded ExtraBold"/>
              <a:cs typeface="Zalando Sans Expanded ExtraBold"/>
              <a:sym typeface="Zalando Sans Expanded ExtraBold"/>
            </a:endParaRPr>
          </a:p>
        </p:txBody>
      </p:sp>
      <p:cxnSp>
        <p:nvCxnSpPr>
          <p:cNvPr id="61" name="Google Shape;61;p14"/>
          <p:cNvCxnSpPr/>
          <p:nvPr/>
        </p:nvCxnSpPr>
        <p:spPr>
          <a:xfrm>
            <a:off x="4298000" y="501625"/>
            <a:ext cx="3300" cy="4683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" name="Google Shape;62;p14"/>
          <p:cNvSpPr/>
          <p:nvPr/>
        </p:nvSpPr>
        <p:spPr>
          <a:xfrm>
            <a:off x="4240700" y="464525"/>
            <a:ext cx="117900" cy="117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902F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337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820">
                <a:solidFill>
                  <a:schemeClr val="lt1"/>
                </a:solidFill>
                <a:latin typeface="Zalando Sans Expanded ExtraBold"/>
                <a:ea typeface="Zalando Sans Expanded ExtraBold"/>
                <a:cs typeface="Zalando Sans Expanded ExtraBold"/>
                <a:sym typeface="Zalando Sans Expanded ExtraBold"/>
              </a:rPr>
              <a:t>INTRODUCCIÓN</a:t>
            </a:r>
            <a:endParaRPr sz="2820">
              <a:solidFill>
                <a:schemeClr val="lt1"/>
              </a:solidFill>
              <a:latin typeface="Zalando Sans Expanded ExtraBold"/>
              <a:ea typeface="Zalando Sans Expanded ExtraBold"/>
              <a:cs typeface="Zalando Sans Expanded ExtraBold"/>
              <a:sym typeface="Zalando Sans Expanded ExtraBold"/>
            </a:endParaRPr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4837975" y="944225"/>
            <a:ext cx="388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dk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Este manual establece las normas de uso, significado y aplicación del logotipo Koguryo Jeju-Do Taekwon-Do, con el fin de garantizar una identidad visual coherente, sólida y respetuosa de su filosofía marcial y cultural.</a:t>
            </a:r>
            <a:endParaRPr sz="1000">
              <a:solidFill>
                <a:schemeClr val="dk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dk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La marca combina tradición coreana, valores morales y una estética contemporánea, representando una escuela de Taekwon-Do basada en la rectitud, el trabajo y el carácter. (Jung-Do).</a:t>
            </a:r>
            <a:endParaRPr sz="1000">
              <a:solidFill>
                <a:schemeClr val="dk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dk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El nombre Jeju es elegido, por lo que representa la isla Jeju, para Corea Del Sur. Una isla sagrada, lugar de entrenamiento físico y espiritual para los guerreros Hwa Rang entre los siglos VI y X. </a:t>
            </a:r>
            <a:endParaRPr sz="1000">
              <a:solidFill>
                <a:schemeClr val="dk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dk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Jeju es hogar del monte Hallasan que es el punto más alto de Corea, un volcan de 1950 mts de altura.</a:t>
            </a:r>
            <a:endParaRPr sz="1000">
              <a:solidFill>
                <a:schemeClr val="dk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600" y="1074675"/>
            <a:ext cx="1981974" cy="352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00375" y="1432800"/>
            <a:ext cx="2047378" cy="36364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1" name="Google Shape;71;p15"/>
          <p:cNvCxnSpPr/>
          <p:nvPr/>
        </p:nvCxnSpPr>
        <p:spPr>
          <a:xfrm>
            <a:off x="4565850" y="0"/>
            <a:ext cx="12300" cy="52281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6" name="Google Shape;76;p16"/>
          <p:cNvCxnSpPr/>
          <p:nvPr/>
        </p:nvCxnSpPr>
        <p:spPr>
          <a:xfrm>
            <a:off x="4514400" y="-45075"/>
            <a:ext cx="6300" cy="5298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" name="Google Shape;77;p16"/>
          <p:cNvSpPr/>
          <p:nvPr/>
        </p:nvSpPr>
        <p:spPr>
          <a:xfrm>
            <a:off x="3014618" y="2117675"/>
            <a:ext cx="3000000" cy="57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6"/>
          <p:cNvSpPr txBox="1"/>
          <p:nvPr>
            <p:ph type="title"/>
          </p:nvPr>
        </p:nvSpPr>
        <p:spPr>
          <a:xfrm>
            <a:off x="2978768" y="705600"/>
            <a:ext cx="3071700" cy="40005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200">
                <a:latin typeface="Zalando Sans Expanded Black"/>
                <a:ea typeface="Zalando Sans Expanded Black"/>
                <a:cs typeface="Zalando Sans Expanded Black"/>
                <a:sym typeface="Zalando Sans Expanded Black"/>
              </a:rPr>
              <a:t>LOGOTIPO</a:t>
            </a:r>
            <a:endParaRPr sz="3200">
              <a:latin typeface="Zalando Sans Expanded Black"/>
              <a:ea typeface="Zalando Sans Expanded Black"/>
              <a:cs typeface="Zalando Sans Expanded Black"/>
              <a:sym typeface="Zalando Sans Expanded Black"/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3014618" y="121805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Zalando Sans Expanded"/>
                <a:ea typeface="Zalando Sans Expanded"/>
                <a:cs typeface="Zalando Sans Expanded"/>
                <a:sym typeface="Zalando Sans Expanded"/>
              </a:rPr>
              <a:t>Todo camino deja su marca…</a:t>
            </a:r>
            <a:endParaRPr sz="1100">
              <a:latin typeface="Zalando Sans Expanded"/>
              <a:ea typeface="Zalando Sans Expanded"/>
              <a:cs typeface="Zalando Sans Expanded"/>
              <a:sym typeface="Zalando Sans Expanded"/>
            </a:endParaRPr>
          </a:p>
        </p:txBody>
      </p:sp>
      <p:pic>
        <p:nvPicPr>
          <p:cNvPr id="80" name="Google Shape;80;p16" title="lofo-final.png"/>
          <p:cNvPicPr preferRelativeResize="0"/>
          <p:nvPr/>
        </p:nvPicPr>
        <p:blipFill rotWithShape="1">
          <a:blip r:embed="rId3">
            <a:alphaModFix/>
          </a:blip>
          <a:srcRect b="6907" l="0" r="0" t="0"/>
          <a:stretch/>
        </p:blipFill>
        <p:spPr>
          <a:xfrm>
            <a:off x="2799431" y="1516275"/>
            <a:ext cx="3430374" cy="310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902F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65825" y="401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200">
                <a:latin typeface="Zalando Sans Expanded Black"/>
                <a:ea typeface="Zalando Sans Expanded Black"/>
                <a:cs typeface="Zalando Sans Expanded Black"/>
                <a:sym typeface="Zalando Sans Expanded Black"/>
              </a:rPr>
              <a:t>CONCEPTO</a:t>
            </a:r>
            <a:endParaRPr sz="3200">
              <a:latin typeface="Zalando Sans Expanded Black"/>
              <a:ea typeface="Zalando Sans Expanded Black"/>
              <a:cs typeface="Zalando Sans Expanded Black"/>
              <a:sym typeface="Zalando Sans Expanded Black"/>
            </a:endParaRPr>
          </a:p>
        </p:txBody>
      </p:sp>
      <p:cxnSp>
        <p:nvCxnSpPr>
          <p:cNvPr id="86" name="Google Shape;86;p17"/>
          <p:cNvCxnSpPr/>
          <p:nvPr/>
        </p:nvCxnSpPr>
        <p:spPr>
          <a:xfrm>
            <a:off x="4448900" y="4830980"/>
            <a:ext cx="0" cy="594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" name="Google Shape;87;p17"/>
          <p:cNvSpPr/>
          <p:nvPr/>
        </p:nvSpPr>
        <p:spPr>
          <a:xfrm>
            <a:off x="365825" y="1053600"/>
            <a:ext cx="8075700" cy="3765000"/>
          </a:xfrm>
          <a:prstGeom prst="roundRect">
            <a:avLst>
              <a:gd fmla="val 8932" name="adj"/>
            </a:avLst>
          </a:prstGeom>
          <a:solidFill>
            <a:srgbClr val="ED902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7"/>
          <p:cNvSpPr/>
          <p:nvPr/>
        </p:nvSpPr>
        <p:spPr>
          <a:xfrm>
            <a:off x="764038" y="1629875"/>
            <a:ext cx="3014400" cy="3014400"/>
          </a:xfrm>
          <a:prstGeom prst="ellipse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325" lIns="87325" spcFirstLastPara="1" rIns="87325" wrap="square" tIns="87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37"/>
          </a:p>
        </p:txBody>
      </p:sp>
      <p:sp>
        <p:nvSpPr>
          <p:cNvPr id="89" name="Google Shape;89;p17"/>
          <p:cNvSpPr/>
          <p:nvPr/>
        </p:nvSpPr>
        <p:spPr>
          <a:xfrm>
            <a:off x="2941701" y="1629875"/>
            <a:ext cx="3014400" cy="3014400"/>
          </a:xfrm>
          <a:prstGeom prst="ellipse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325" lIns="87325" spcFirstLastPara="1" rIns="87325" wrap="square" tIns="87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37"/>
          </a:p>
        </p:txBody>
      </p:sp>
      <p:sp>
        <p:nvSpPr>
          <p:cNvPr id="90" name="Google Shape;90;p17"/>
          <p:cNvSpPr/>
          <p:nvPr/>
        </p:nvSpPr>
        <p:spPr>
          <a:xfrm>
            <a:off x="5166815" y="1629875"/>
            <a:ext cx="3014400" cy="3014400"/>
          </a:xfrm>
          <a:prstGeom prst="ellipse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325" lIns="87325" spcFirstLastPara="1" rIns="87325" wrap="square" tIns="87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37"/>
          </a:p>
        </p:txBody>
      </p:sp>
      <p:sp>
        <p:nvSpPr>
          <p:cNvPr id="91" name="Google Shape;91;p17"/>
          <p:cNvSpPr txBox="1"/>
          <p:nvPr/>
        </p:nvSpPr>
        <p:spPr>
          <a:xfrm>
            <a:off x="1612750" y="2960075"/>
            <a:ext cx="131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4563AC"/>
                </a:solidFill>
                <a:latin typeface="Zalando Sans Expanded Black"/>
                <a:ea typeface="Zalando Sans Expanded Black"/>
                <a:cs typeface="Zalando Sans Expanded Black"/>
                <a:sym typeface="Zalando Sans Expanded Black"/>
              </a:rPr>
              <a:t>EQUILIBRIO</a:t>
            </a:r>
            <a:endParaRPr sz="1300">
              <a:solidFill>
                <a:srgbClr val="4563AC"/>
              </a:solidFill>
              <a:latin typeface="Zalando Sans Expanded Black"/>
              <a:ea typeface="Zalando Sans Expanded Black"/>
              <a:cs typeface="Zalando Sans Expanded Black"/>
              <a:sym typeface="Zalando Sans Expanded Black"/>
            </a:endParaRPr>
          </a:p>
        </p:txBody>
      </p:sp>
      <p:sp>
        <p:nvSpPr>
          <p:cNvPr id="92" name="Google Shape;92;p17"/>
          <p:cNvSpPr txBox="1"/>
          <p:nvPr/>
        </p:nvSpPr>
        <p:spPr>
          <a:xfrm>
            <a:off x="3730650" y="2960075"/>
            <a:ext cx="1682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4563AC"/>
                </a:solidFill>
                <a:latin typeface="Zalando Sans Expanded Black"/>
                <a:ea typeface="Zalando Sans Expanded Black"/>
                <a:cs typeface="Zalando Sans Expanded Black"/>
                <a:sym typeface="Zalando Sans Expanded Black"/>
              </a:rPr>
              <a:t>VERTICALIDAD</a:t>
            </a:r>
            <a:endParaRPr sz="1300">
              <a:solidFill>
                <a:srgbClr val="4563AC"/>
              </a:solidFill>
              <a:latin typeface="Zalando Sans Expanded Black"/>
              <a:ea typeface="Zalando Sans Expanded Black"/>
              <a:cs typeface="Zalando Sans Expanded Black"/>
              <a:sym typeface="Zalando Sans Expanded Black"/>
            </a:endParaRPr>
          </a:p>
        </p:txBody>
      </p:sp>
      <p:sp>
        <p:nvSpPr>
          <p:cNvPr id="93" name="Google Shape;93;p17"/>
          <p:cNvSpPr txBox="1"/>
          <p:nvPr/>
        </p:nvSpPr>
        <p:spPr>
          <a:xfrm>
            <a:off x="6081513" y="2960075"/>
            <a:ext cx="131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4563AC"/>
                </a:solidFill>
                <a:latin typeface="Zalando Sans Expanded Black"/>
                <a:ea typeface="Zalando Sans Expanded Black"/>
                <a:cs typeface="Zalando Sans Expanded Black"/>
                <a:sym typeface="Zalando Sans Expanded Black"/>
              </a:rPr>
              <a:t>SIMPLICIDAD</a:t>
            </a:r>
            <a:endParaRPr sz="1300">
              <a:solidFill>
                <a:srgbClr val="4563AC"/>
              </a:solidFill>
              <a:latin typeface="Zalando Sans Expanded Black"/>
              <a:ea typeface="Zalando Sans Expanded Black"/>
              <a:cs typeface="Zalando Sans Expanded Black"/>
              <a:sym typeface="Zalando Sans Expanded Black"/>
            </a:endParaRPr>
          </a:p>
        </p:txBody>
      </p:sp>
      <p:sp>
        <p:nvSpPr>
          <p:cNvPr id="94" name="Google Shape;94;p17"/>
          <p:cNvSpPr txBox="1"/>
          <p:nvPr/>
        </p:nvSpPr>
        <p:spPr>
          <a:xfrm>
            <a:off x="2434450" y="2725325"/>
            <a:ext cx="1387500" cy="9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chemeClr val="lt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Tradición</a:t>
            </a:r>
            <a:endParaRPr sz="700">
              <a:solidFill>
                <a:schemeClr val="lt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chemeClr val="lt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marcial </a:t>
            </a:r>
            <a:endParaRPr sz="700">
              <a:solidFill>
                <a:schemeClr val="lt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chemeClr val="lt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coreana</a:t>
            </a:r>
            <a:endParaRPr sz="700">
              <a:solidFill>
                <a:schemeClr val="lt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chemeClr val="lt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Rectitud moral </a:t>
            </a:r>
            <a:endParaRPr sz="700">
              <a:solidFill>
                <a:schemeClr val="lt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chemeClr val="lt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y disciplina</a:t>
            </a:r>
            <a:endParaRPr sz="700">
              <a:solidFill>
                <a:schemeClr val="lt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4613325" y="2757725"/>
            <a:ext cx="14682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chemeClr val="lt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Trabajo</a:t>
            </a:r>
            <a:endParaRPr sz="700">
              <a:solidFill>
                <a:schemeClr val="lt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chemeClr val="lt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constante y </a:t>
            </a:r>
            <a:endParaRPr sz="700">
              <a:solidFill>
                <a:schemeClr val="lt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chemeClr val="lt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humildad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96" name="Google Shape;96;p17"/>
          <p:cNvSpPr txBox="1"/>
          <p:nvPr>
            <p:ph idx="1" type="body"/>
          </p:nvPr>
        </p:nvSpPr>
        <p:spPr>
          <a:xfrm>
            <a:off x="307400" y="1171900"/>
            <a:ext cx="8392500" cy="40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s" sz="1140">
                <a:solidFill>
                  <a:schemeClr val="lt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La identidad visual de Koguryo Jeju se apoya en tres pilares:</a:t>
            </a:r>
            <a:endParaRPr sz="1140">
              <a:solidFill>
                <a:schemeClr val="lt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t/>
            </a:r>
            <a:endParaRPr sz="1140">
              <a:solidFill>
                <a:schemeClr val="dk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SzPts val="440"/>
              <a:buNone/>
            </a:pPr>
            <a:r>
              <a:t/>
            </a:r>
            <a:endParaRPr sz="1140">
              <a:latin typeface="Zalando Sans Expanded"/>
              <a:ea typeface="Zalando Sans Expanded"/>
              <a:cs typeface="Zalando Sans Expanded"/>
              <a:sym typeface="Zalando Sans Expanded"/>
            </a:endParaRPr>
          </a:p>
        </p:txBody>
      </p:sp>
      <p:cxnSp>
        <p:nvCxnSpPr>
          <p:cNvPr id="97" name="Google Shape;97;p17"/>
          <p:cNvCxnSpPr/>
          <p:nvPr/>
        </p:nvCxnSpPr>
        <p:spPr>
          <a:xfrm>
            <a:off x="4503650" y="0"/>
            <a:ext cx="0" cy="1056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563AC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type="title"/>
          </p:nvPr>
        </p:nvSpPr>
        <p:spPr>
          <a:xfrm>
            <a:off x="277850" y="614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1920">
                <a:solidFill>
                  <a:schemeClr val="lt1"/>
                </a:solidFill>
                <a:latin typeface="Zalando Sans Expanded Black"/>
                <a:ea typeface="Zalando Sans Expanded Black"/>
                <a:cs typeface="Zalando Sans Expanded Black"/>
                <a:sym typeface="Zalando Sans Expanded Black"/>
              </a:rPr>
              <a:t>ORIGEN DEL LOGOTIPO</a:t>
            </a:r>
            <a:endParaRPr sz="1920">
              <a:solidFill>
                <a:schemeClr val="lt1"/>
              </a:solidFill>
              <a:latin typeface="Zalando Sans Expanded Black"/>
              <a:ea typeface="Zalando Sans Expanded Black"/>
              <a:cs typeface="Zalando Sans Expanded Black"/>
              <a:sym typeface="Zalando Sans Expanded Black"/>
            </a:endParaRPr>
          </a:p>
        </p:txBody>
      </p:sp>
      <p:cxnSp>
        <p:nvCxnSpPr>
          <p:cNvPr id="103" name="Google Shape;103;p18"/>
          <p:cNvCxnSpPr/>
          <p:nvPr/>
        </p:nvCxnSpPr>
        <p:spPr>
          <a:xfrm>
            <a:off x="4522600" y="-61875"/>
            <a:ext cx="11400" cy="53358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" name="Google Shape;104;p18"/>
          <p:cNvSpPr/>
          <p:nvPr/>
        </p:nvSpPr>
        <p:spPr>
          <a:xfrm>
            <a:off x="403850" y="1099800"/>
            <a:ext cx="8268600" cy="3546900"/>
          </a:xfrm>
          <a:prstGeom prst="roundRect">
            <a:avLst>
              <a:gd fmla="val 8932" name="adj"/>
            </a:avLst>
          </a:prstGeom>
          <a:solidFill>
            <a:srgbClr val="4563AC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8"/>
          <p:cNvSpPr txBox="1"/>
          <p:nvPr>
            <p:ph idx="1" type="body"/>
          </p:nvPr>
        </p:nvSpPr>
        <p:spPr>
          <a:xfrm>
            <a:off x="883600" y="1435425"/>
            <a:ext cx="3650400" cy="277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​</a:t>
            </a:r>
            <a:r>
              <a:rPr lang="es" sz="1000">
                <a:solidFill>
                  <a:schemeClr val="lt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El Puño Central (El Legado Hwa Rang): El elemento protagónico es una estilización del puño esculpido en el monumento a los guerreros Hwa Rang de la Isla de Jeju. Este ícono conecta a la escuela con la "Cuna del Taekwon-Do", simbolizando el espíritu de los guerreros de élite y la fuerza de voluntad. Su orientación ascendente refuerza la idea de escalar hacia la excelencia, en alusión al Monte Hallasan.</a:t>
            </a:r>
            <a:endParaRPr sz="1000">
              <a:solidFill>
                <a:schemeClr val="lt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​El Globo Terráqueo (Fondo): Detrás del puño se observa una retícula esférica que alude al globo terráqueo. Esto simboliza la universalidad del Taekwon-Do y su expansión global. </a:t>
            </a:r>
            <a:r>
              <a:rPr lang="es" sz="1000">
                <a:solidFill>
                  <a:schemeClr val="lt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Equilibrio entre fuerza y control</a:t>
            </a:r>
            <a:endParaRPr sz="1000">
              <a:solidFill>
                <a:schemeClr val="lt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</p:txBody>
      </p:sp>
      <p:pic>
        <p:nvPicPr>
          <p:cNvPr id="106" name="Google Shape;106;p18"/>
          <p:cNvPicPr preferRelativeResize="0"/>
          <p:nvPr/>
        </p:nvPicPr>
        <p:blipFill rotWithShape="1">
          <a:blip r:embed="rId3">
            <a:alphaModFix/>
          </a:blip>
          <a:srcRect b="42218" l="20683" r="29429" t="23172"/>
          <a:stretch/>
        </p:blipFill>
        <p:spPr>
          <a:xfrm>
            <a:off x="5093825" y="1186901"/>
            <a:ext cx="2695272" cy="310308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8"/>
          <p:cNvSpPr txBox="1"/>
          <p:nvPr/>
        </p:nvSpPr>
        <p:spPr>
          <a:xfrm rot="-1009">
            <a:off x="5419074" y="4209534"/>
            <a:ext cx="2044800" cy="5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chemeClr val="lt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Esta foto es en Corea,en la isla Jeju, en el monumento a los guerreros  Hwa Rang.</a:t>
            </a:r>
            <a:endParaRPr sz="700">
              <a:solidFill>
                <a:schemeClr val="lt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902F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/>
          <p:nvPr/>
        </p:nvSpPr>
        <p:spPr>
          <a:xfrm>
            <a:off x="415525" y="1097100"/>
            <a:ext cx="8075700" cy="3546900"/>
          </a:xfrm>
          <a:prstGeom prst="roundRect">
            <a:avLst>
              <a:gd fmla="val 8932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9"/>
          <p:cNvSpPr txBox="1"/>
          <p:nvPr>
            <p:ph type="title"/>
          </p:nvPr>
        </p:nvSpPr>
        <p:spPr>
          <a:xfrm>
            <a:off x="491850" y="632900"/>
            <a:ext cx="3595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s" sz="1420">
                <a:latin typeface="Zalando Sans Expanded Black"/>
                <a:ea typeface="Zalando Sans Expanded Black"/>
                <a:cs typeface="Zalando Sans Expanded Black"/>
                <a:sym typeface="Zalando Sans Expanded Black"/>
              </a:rPr>
              <a:t>SIGNIFICADO DEL LOGOTIPO</a:t>
            </a:r>
            <a:endParaRPr sz="1420">
              <a:latin typeface="Zalando Sans Expanded Black"/>
              <a:ea typeface="Zalando Sans Expanded Black"/>
              <a:cs typeface="Zalando Sans Expanded Black"/>
              <a:sym typeface="Zalando Sans Expanded Black"/>
            </a:endParaRPr>
          </a:p>
        </p:txBody>
      </p:sp>
      <p:sp>
        <p:nvSpPr>
          <p:cNvPr id="114" name="Google Shape;114;p19"/>
          <p:cNvSpPr/>
          <p:nvPr/>
        </p:nvSpPr>
        <p:spPr>
          <a:xfrm>
            <a:off x="948025" y="1915100"/>
            <a:ext cx="2154000" cy="2409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9"/>
          <p:cNvSpPr/>
          <p:nvPr/>
        </p:nvSpPr>
        <p:spPr>
          <a:xfrm>
            <a:off x="3307075" y="1915100"/>
            <a:ext cx="2154000" cy="2409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9"/>
          <p:cNvSpPr/>
          <p:nvPr/>
        </p:nvSpPr>
        <p:spPr>
          <a:xfrm>
            <a:off x="5666125" y="1915100"/>
            <a:ext cx="2154000" cy="2409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9"/>
          <p:cNvSpPr txBox="1"/>
          <p:nvPr>
            <p:ph idx="1" type="body"/>
          </p:nvPr>
        </p:nvSpPr>
        <p:spPr>
          <a:xfrm>
            <a:off x="711175" y="1317063"/>
            <a:ext cx="7500300" cy="6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9132"/>
              <a:buFont typeface="Arial"/>
              <a:buNone/>
            </a:pPr>
            <a:r>
              <a:rPr lang="es" sz="3776">
                <a:solidFill>
                  <a:schemeClr val="lt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El logotipo se construye dentro de una forma circular perfecta donde el puño se alinea sobre un eje vertical central y todos los elementos mantienen proporciones fijas. Este cumple tres funciones:</a:t>
            </a:r>
            <a:endParaRPr sz="3776">
              <a:solidFill>
                <a:schemeClr val="lt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8" name="Google Shape;118;p19"/>
          <p:cNvSpPr txBox="1"/>
          <p:nvPr/>
        </p:nvSpPr>
        <p:spPr>
          <a:xfrm>
            <a:off x="3307075" y="2086335"/>
            <a:ext cx="2154000" cy="23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4563AC"/>
                </a:solidFill>
                <a:latin typeface="Zalando Sans Expanded Black"/>
                <a:ea typeface="Zalando Sans Expanded Black"/>
                <a:cs typeface="Zalando Sans Expanded Black"/>
                <a:sym typeface="Zalando Sans Expanded Black"/>
              </a:rPr>
              <a:t>Función visual:</a:t>
            </a:r>
            <a:endParaRPr sz="1100">
              <a:solidFill>
                <a:srgbClr val="4563AC"/>
              </a:solidFill>
              <a:latin typeface="Zalando Sans Expanded Black"/>
              <a:ea typeface="Zalando Sans Expanded Black"/>
              <a:cs typeface="Zalando Sans Expanded Black"/>
              <a:sym typeface="Zalando Sans Expanded Black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Zalando Sans Expanded Black"/>
              <a:ea typeface="Zalando Sans Expanded Black"/>
              <a:cs typeface="Zalando Sans Expanded Black"/>
              <a:sym typeface="Zalando Sans Expanded Black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Zalando Sans Expanded"/>
              <a:buChar char="●"/>
            </a:pPr>
            <a:r>
              <a:rPr lang="es" sz="1000">
                <a:solidFill>
                  <a:schemeClr val="dk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Enmarca el símbolo</a:t>
            </a:r>
            <a:endParaRPr sz="1000">
              <a:solidFill>
                <a:schemeClr val="dk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Zalando Sans Expanded"/>
              <a:buChar char="●"/>
            </a:pPr>
            <a:r>
              <a:rPr lang="es" sz="1000">
                <a:solidFill>
                  <a:schemeClr val="dk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Ordena la lectura</a:t>
            </a:r>
            <a:endParaRPr sz="1000">
              <a:solidFill>
                <a:schemeClr val="dk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Zalando Sans Expanded"/>
              <a:buChar char="●"/>
            </a:pPr>
            <a:r>
              <a:rPr lang="es" sz="1000">
                <a:solidFill>
                  <a:schemeClr val="dk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Da jerarquía al nombre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19" name="Google Shape;119;p19"/>
          <p:cNvSpPr txBox="1"/>
          <p:nvPr/>
        </p:nvSpPr>
        <p:spPr>
          <a:xfrm>
            <a:off x="5699152" y="2086334"/>
            <a:ext cx="2154000" cy="23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4563AC"/>
                </a:solidFill>
                <a:latin typeface="Zalando Sans Expanded Black"/>
                <a:ea typeface="Zalando Sans Expanded Black"/>
                <a:cs typeface="Zalando Sans Expanded Black"/>
                <a:sym typeface="Zalando Sans Expanded Black"/>
              </a:rPr>
              <a:t>Función </a:t>
            </a:r>
            <a:r>
              <a:rPr lang="es" sz="1100">
                <a:solidFill>
                  <a:srgbClr val="4563AC"/>
                </a:solidFill>
                <a:latin typeface="Zalando Sans Expanded Black"/>
                <a:ea typeface="Zalando Sans Expanded Black"/>
                <a:cs typeface="Zalando Sans Expanded Black"/>
                <a:sym typeface="Zalando Sans Expanded Black"/>
              </a:rPr>
              <a:t>cromática</a:t>
            </a:r>
            <a:r>
              <a:rPr lang="es" sz="1100">
                <a:solidFill>
                  <a:srgbClr val="4563AC"/>
                </a:solidFill>
                <a:latin typeface="Zalando Sans Expanded Black"/>
                <a:ea typeface="Zalando Sans Expanded Black"/>
                <a:cs typeface="Zalando Sans Expanded Black"/>
                <a:sym typeface="Zalando Sans Expanded Black"/>
              </a:rPr>
              <a:t>:</a:t>
            </a:r>
            <a:endParaRPr sz="1100">
              <a:solidFill>
                <a:srgbClr val="4563AC"/>
              </a:solidFill>
              <a:latin typeface="Zalando Sans Expanded Black"/>
              <a:ea typeface="Zalando Sans Expanded Black"/>
              <a:cs typeface="Zalando Sans Expanded Black"/>
              <a:sym typeface="Zalando Sans Expanded Black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Zalando Sans Expanded Black"/>
              <a:ea typeface="Zalando Sans Expanded Black"/>
              <a:cs typeface="Zalando Sans Expanded Black"/>
              <a:sym typeface="Zalando Sans Expanded Blac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Zalando Sans Expanded"/>
              <a:buChar char="●"/>
            </a:pPr>
            <a:r>
              <a:rPr lang="es" sz="1100">
                <a:solidFill>
                  <a:schemeClr val="dk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Seriedad</a:t>
            </a:r>
            <a:endParaRPr sz="1100">
              <a:solidFill>
                <a:schemeClr val="dk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Zalando Sans Expanded"/>
              <a:buChar char="●"/>
            </a:pPr>
            <a:r>
              <a:rPr lang="es" sz="1100">
                <a:solidFill>
                  <a:schemeClr val="dk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Carácter marcial</a:t>
            </a:r>
            <a:endParaRPr sz="1100">
              <a:solidFill>
                <a:schemeClr val="dk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</p:txBody>
      </p:sp>
      <p:sp>
        <p:nvSpPr>
          <p:cNvPr id="120" name="Google Shape;120;p19"/>
          <p:cNvSpPr txBox="1"/>
          <p:nvPr/>
        </p:nvSpPr>
        <p:spPr>
          <a:xfrm>
            <a:off x="1003825" y="2086325"/>
            <a:ext cx="2098200" cy="19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4563AC"/>
                </a:solidFill>
                <a:latin typeface="Zalando Sans Expanded Black"/>
                <a:ea typeface="Zalando Sans Expanded Black"/>
                <a:cs typeface="Zalando Sans Expanded Black"/>
                <a:sym typeface="Zalando Sans Expanded Black"/>
              </a:rPr>
              <a:t>Función simbólica:</a:t>
            </a:r>
            <a:endParaRPr sz="1100">
              <a:solidFill>
                <a:srgbClr val="4563AC"/>
              </a:solidFill>
              <a:latin typeface="Zalando Sans Expanded Black"/>
              <a:ea typeface="Zalando Sans Expanded Black"/>
              <a:cs typeface="Zalando Sans Expanded Black"/>
              <a:sym typeface="Zalando Sans Expanded Blac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Zalando Sans Expanded"/>
              <a:buChar char="●"/>
            </a:pPr>
            <a:r>
              <a:rPr lang="es" sz="1000">
                <a:solidFill>
                  <a:schemeClr val="dk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La escuela como protección</a:t>
            </a:r>
            <a:endParaRPr sz="1000">
              <a:solidFill>
                <a:schemeClr val="dk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Zalando Sans Expanded"/>
              <a:buChar char="●"/>
            </a:pPr>
            <a:r>
              <a:rPr lang="es" sz="1000">
                <a:solidFill>
                  <a:schemeClr val="dk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El dojang como espacio de formación</a:t>
            </a:r>
            <a:endParaRPr sz="1000">
              <a:solidFill>
                <a:schemeClr val="dk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Zalando Sans Expanded"/>
              <a:buChar char="●"/>
            </a:pPr>
            <a:r>
              <a:rPr lang="es" sz="1000">
                <a:solidFill>
                  <a:schemeClr val="dk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El marco que contiene y guía al alumno</a:t>
            </a:r>
            <a:endParaRPr sz="1000">
              <a:solidFill>
                <a:schemeClr val="dk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Zalando Sans Expanded Black"/>
              <a:ea typeface="Zalando Sans Expanded Black"/>
              <a:cs typeface="Zalando Sans Expanded Black"/>
              <a:sym typeface="Zalando Sans Expanded Black"/>
            </a:endParaRPr>
          </a:p>
        </p:txBody>
      </p:sp>
      <p:cxnSp>
        <p:nvCxnSpPr>
          <p:cNvPr id="121" name="Google Shape;121;p19"/>
          <p:cNvCxnSpPr/>
          <p:nvPr/>
        </p:nvCxnSpPr>
        <p:spPr>
          <a:xfrm>
            <a:off x="4453375" y="0"/>
            <a:ext cx="0" cy="1097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" name="Google Shape;122;p19"/>
          <p:cNvCxnSpPr/>
          <p:nvPr/>
        </p:nvCxnSpPr>
        <p:spPr>
          <a:xfrm>
            <a:off x="4453375" y="4644000"/>
            <a:ext cx="0" cy="1097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/>
          <p:nvPr>
            <p:ph type="title"/>
          </p:nvPr>
        </p:nvSpPr>
        <p:spPr>
          <a:xfrm>
            <a:off x="417350" y="696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s" sz="1520">
                <a:latin typeface="Zalando Sans Expanded Black"/>
                <a:ea typeface="Zalando Sans Expanded Black"/>
                <a:cs typeface="Zalando Sans Expanded Black"/>
                <a:sym typeface="Zalando Sans Expanded Black"/>
              </a:rPr>
              <a:t>SIGNIFICADO DEL LOGOTIPO</a:t>
            </a:r>
            <a:endParaRPr sz="1520">
              <a:latin typeface="Zalando Sans Expanded Black"/>
              <a:ea typeface="Zalando Sans Expanded Black"/>
              <a:cs typeface="Zalando Sans Expanded Black"/>
              <a:sym typeface="Zalando Sans Expanded Black"/>
            </a:endParaRPr>
          </a:p>
        </p:txBody>
      </p:sp>
      <p:cxnSp>
        <p:nvCxnSpPr>
          <p:cNvPr id="128" name="Google Shape;128;p20"/>
          <p:cNvCxnSpPr/>
          <p:nvPr/>
        </p:nvCxnSpPr>
        <p:spPr>
          <a:xfrm flipH="1">
            <a:off x="4674050" y="-14150"/>
            <a:ext cx="7200" cy="529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" name="Google Shape;129;p20"/>
          <p:cNvSpPr/>
          <p:nvPr/>
        </p:nvSpPr>
        <p:spPr>
          <a:xfrm>
            <a:off x="334325" y="1169950"/>
            <a:ext cx="8036700" cy="3546900"/>
          </a:xfrm>
          <a:prstGeom prst="roundRect">
            <a:avLst>
              <a:gd fmla="val 8932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0" name="Google Shape;130;p20" title="DkQFHUBV4AARwQq.jpg"/>
          <p:cNvPicPr preferRelativeResize="0"/>
          <p:nvPr/>
        </p:nvPicPr>
        <p:blipFill rotWithShape="1">
          <a:blip r:embed="rId3">
            <a:alphaModFix/>
          </a:blip>
          <a:srcRect b="33045" l="19097" r="22699" t="6830"/>
          <a:stretch/>
        </p:blipFill>
        <p:spPr>
          <a:xfrm>
            <a:off x="4691875" y="1397125"/>
            <a:ext cx="2993574" cy="3092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0"/>
          <p:cNvSpPr txBox="1"/>
          <p:nvPr>
            <p:ph idx="1" type="body"/>
          </p:nvPr>
        </p:nvSpPr>
        <p:spPr>
          <a:xfrm>
            <a:off x="639725" y="1521300"/>
            <a:ext cx="3719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dk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El círculo representa el Do (camino):</a:t>
            </a:r>
            <a:endParaRPr sz="1000">
              <a:solidFill>
                <a:schemeClr val="dk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4563AC"/>
              </a:buClr>
              <a:buSzPts val="1000"/>
              <a:buFont typeface="Zalando Sans Expanded"/>
              <a:buChar char="●"/>
            </a:pPr>
            <a:r>
              <a:rPr lang="es" sz="1000">
                <a:solidFill>
                  <a:srgbClr val="4563AC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Unidad</a:t>
            </a:r>
            <a:endParaRPr sz="1000">
              <a:solidFill>
                <a:srgbClr val="4563AC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4563AC"/>
              </a:buClr>
              <a:buSzPts val="1000"/>
              <a:buFont typeface="Zalando Sans Expanded"/>
              <a:buChar char="●"/>
            </a:pPr>
            <a:r>
              <a:rPr lang="es" sz="1000">
                <a:solidFill>
                  <a:srgbClr val="4563AC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Continuidad</a:t>
            </a:r>
            <a:endParaRPr sz="1000">
              <a:solidFill>
                <a:srgbClr val="4563AC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4563AC"/>
              </a:buClr>
              <a:buSzPts val="1000"/>
              <a:buFont typeface="Zalando Sans Expanded"/>
              <a:buChar char="●"/>
            </a:pPr>
            <a:r>
              <a:rPr lang="es" sz="1000">
                <a:solidFill>
                  <a:srgbClr val="4563AC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Camino sin principio ni fin</a:t>
            </a:r>
            <a:endParaRPr sz="1000">
              <a:solidFill>
                <a:srgbClr val="4563AC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4563AC"/>
              </a:buClr>
              <a:buSzPts val="1000"/>
              <a:buFont typeface="Zalando Sans Expanded"/>
              <a:buChar char="●"/>
            </a:pPr>
            <a:r>
              <a:rPr lang="es" sz="1000">
                <a:solidFill>
                  <a:srgbClr val="4563AC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La escuela como comunidad</a:t>
            </a:r>
            <a:endParaRPr sz="1000">
              <a:solidFill>
                <a:srgbClr val="4563AC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En Taekwon-Do, el círculo representa también:</a:t>
            </a:r>
            <a:endParaRPr sz="1000">
              <a:solidFill>
                <a:schemeClr val="dk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4563AC"/>
              </a:buClr>
              <a:buSzPts val="1000"/>
              <a:buFont typeface="Zalando Sans Expanded"/>
              <a:buChar char="●"/>
            </a:pPr>
            <a:r>
              <a:rPr lang="es" sz="1000">
                <a:solidFill>
                  <a:srgbClr val="4563AC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La práctica constante</a:t>
            </a:r>
            <a:endParaRPr sz="1000">
              <a:solidFill>
                <a:srgbClr val="4563AC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4563AC"/>
              </a:buClr>
              <a:buSzPts val="1000"/>
              <a:buFont typeface="Zalando Sans Expanded"/>
              <a:buChar char="●"/>
            </a:pPr>
            <a:r>
              <a:rPr lang="es" sz="1000">
                <a:solidFill>
                  <a:srgbClr val="4563AC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El ciclo de aprendizaje</a:t>
            </a:r>
            <a:endParaRPr sz="1000">
              <a:solidFill>
                <a:srgbClr val="4563AC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4563AC"/>
              </a:buClr>
              <a:buSzPts val="1000"/>
              <a:buFont typeface="Zalando Sans Expanded"/>
              <a:buChar char="●"/>
            </a:pPr>
            <a:r>
              <a:rPr lang="es" sz="1000">
                <a:solidFill>
                  <a:srgbClr val="4563AC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El equilibrio entre cuerpo, mente y espíritu</a:t>
            </a:r>
            <a:endParaRPr sz="1000">
              <a:solidFill>
                <a:srgbClr val="4563AC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dk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Encierra la fuerza del puño, simbolizando que el poder debe estar contenido por la ética.</a:t>
            </a:r>
            <a:endParaRPr sz="1700">
              <a:latin typeface="Zalando Sans Expanded"/>
              <a:ea typeface="Zalando Sans Expanded"/>
              <a:cs typeface="Zalando Sans Expanded"/>
              <a:sym typeface="Zalando Sans Expande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" name="Google Shape;136;p21"/>
          <p:cNvCxnSpPr/>
          <p:nvPr/>
        </p:nvCxnSpPr>
        <p:spPr>
          <a:xfrm>
            <a:off x="4439525" y="-26525"/>
            <a:ext cx="14100" cy="537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" name="Google Shape;137;p21"/>
          <p:cNvSpPr/>
          <p:nvPr/>
        </p:nvSpPr>
        <p:spPr>
          <a:xfrm>
            <a:off x="488225" y="1097100"/>
            <a:ext cx="7916700" cy="3279900"/>
          </a:xfrm>
          <a:prstGeom prst="roundRect">
            <a:avLst>
              <a:gd fmla="val 8932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1"/>
          <p:cNvSpPr txBox="1"/>
          <p:nvPr>
            <p:ph type="title"/>
          </p:nvPr>
        </p:nvSpPr>
        <p:spPr>
          <a:xfrm>
            <a:off x="415525" y="494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900">
                <a:latin typeface="Zalando Sans Expanded Black"/>
                <a:ea typeface="Zalando Sans Expanded Black"/>
                <a:cs typeface="Zalando Sans Expanded Black"/>
                <a:sym typeface="Zalando Sans Expanded Black"/>
              </a:rPr>
              <a:t>PALETA DE COLORES</a:t>
            </a:r>
            <a:endParaRPr sz="3600">
              <a:latin typeface="Zalando Sans Expanded Black"/>
              <a:ea typeface="Zalando Sans Expanded Black"/>
              <a:cs typeface="Zalando Sans Expanded Black"/>
              <a:sym typeface="Zalando Sans Expanded Black"/>
            </a:endParaRPr>
          </a:p>
        </p:txBody>
      </p:sp>
      <p:grpSp>
        <p:nvGrpSpPr>
          <p:cNvPr id="139" name="Google Shape;139;p21"/>
          <p:cNvGrpSpPr/>
          <p:nvPr/>
        </p:nvGrpSpPr>
        <p:grpSpPr>
          <a:xfrm>
            <a:off x="6129150" y="1581675"/>
            <a:ext cx="1536600" cy="2795325"/>
            <a:chOff x="5811625" y="1513225"/>
            <a:chExt cx="1536600" cy="2795325"/>
          </a:xfrm>
        </p:grpSpPr>
        <p:sp>
          <p:nvSpPr>
            <p:cNvPr id="140" name="Google Shape;140;p21"/>
            <p:cNvSpPr/>
            <p:nvPr/>
          </p:nvSpPr>
          <p:spPr>
            <a:xfrm>
              <a:off x="6008425" y="1513225"/>
              <a:ext cx="1143000" cy="1143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21"/>
            <p:cNvSpPr txBox="1"/>
            <p:nvPr/>
          </p:nvSpPr>
          <p:spPr>
            <a:xfrm>
              <a:off x="5811625" y="2768050"/>
              <a:ext cx="1536600" cy="154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00">
                  <a:solidFill>
                    <a:schemeClr val="dk1"/>
                  </a:solidFill>
                  <a:latin typeface="Zalando Sans Expanded"/>
                  <a:ea typeface="Zalando Sans Expanded"/>
                  <a:cs typeface="Zalando Sans Expanded"/>
                  <a:sym typeface="Zalando Sans Expanded"/>
                </a:rPr>
                <a:t>PANTONE White</a:t>
              </a:r>
              <a:endParaRPr b="1" sz="800">
                <a:solidFill>
                  <a:schemeClr val="dk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" sz="800">
                  <a:solidFill>
                    <a:schemeClr val="dk1"/>
                  </a:solidFill>
                  <a:latin typeface="Zalando Sans Expanded"/>
                  <a:ea typeface="Zalando Sans Expanded"/>
                  <a:cs typeface="Zalando Sans Expanded"/>
                  <a:sym typeface="Zalando Sans Expanded"/>
                </a:rPr>
                <a:t>HEX: #FFFFFF</a:t>
              </a:r>
              <a:br>
                <a:rPr lang="es" sz="800">
                  <a:solidFill>
                    <a:schemeClr val="dk1"/>
                  </a:solidFill>
                  <a:latin typeface="Zalando Sans Expanded"/>
                  <a:ea typeface="Zalando Sans Expanded"/>
                  <a:cs typeface="Zalando Sans Expanded"/>
                  <a:sym typeface="Zalando Sans Expanded"/>
                </a:rPr>
              </a:br>
              <a:endParaRPr sz="800">
                <a:solidFill>
                  <a:schemeClr val="dk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" sz="800">
                  <a:solidFill>
                    <a:schemeClr val="dk1"/>
                  </a:solidFill>
                  <a:latin typeface="Zalando Sans Expanded"/>
                  <a:ea typeface="Zalando Sans Expanded"/>
                  <a:cs typeface="Zalando Sans Expanded"/>
                  <a:sym typeface="Zalando Sans Expanded"/>
                </a:rPr>
                <a:t>Nombre: Blanco puro / White</a:t>
              </a:r>
              <a:br>
                <a:rPr lang="es" sz="800">
                  <a:solidFill>
                    <a:schemeClr val="dk1"/>
                  </a:solidFill>
                  <a:latin typeface="Zalando Sans Expanded"/>
                  <a:ea typeface="Zalando Sans Expanded"/>
                  <a:cs typeface="Zalando Sans Expanded"/>
                  <a:sym typeface="Zalando Sans Expanded"/>
                </a:rPr>
              </a:br>
              <a:endParaRPr sz="800">
                <a:solidFill>
                  <a:schemeClr val="dk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" sz="800">
                  <a:solidFill>
                    <a:schemeClr val="dk1"/>
                  </a:solidFill>
                  <a:latin typeface="Zalando Sans Expanded"/>
                  <a:ea typeface="Zalando Sans Expanded"/>
                  <a:cs typeface="Zalando Sans Expanded"/>
                  <a:sym typeface="Zalando Sans Expanded"/>
                </a:rPr>
                <a:t>RGB: (255, 255, 255)</a:t>
              </a:r>
              <a:endParaRPr sz="800">
                <a:solidFill>
                  <a:schemeClr val="dk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dk2"/>
                </a:solidFill>
              </a:endParaRPr>
            </a:p>
          </p:txBody>
        </p:sp>
      </p:grpSp>
      <p:grpSp>
        <p:nvGrpSpPr>
          <p:cNvPr id="142" name="Google Shape;142;p21"/>
          <p:cNvGrpSpPr/>
          <p:nvPr/>
        </p:nvGrpSpPr>
        <p:grpSpPr>
          <a:xfrm>
            <a:off x="4423217" y="1581675"/>
            <a:ext cx="1536600" cy="2795325"/>
            <a:chOff x="4463263" y="1513225"/>
            <a:chExt cx="1536600" cy="2795325"/>
          </a:xfrm>
        </p:grpSpPr>
        <p:sp>
          <p:nvSpPr>
            <p:cNvPr id="143" name="Google Shape;143;p21"/>
            <p:cNvSpPr/>
            <p:nvPr/>
          </p:nvSpPr>
          <p:spPr>
            <a:xfrm>
              <a:off x="4660063" y="1513225"/>
              <a:ext cx="1143000" cy="1143000"/>
            </a:xfrm>
            <a:prstGeom prst="rect">
              <a:avLst/>
            </a:prstGeom>
            <a:solidFill>
              <a:srgbClr val="231F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21"/>
            <p:cNvSpPr txBox="1"/>
            <p:nvPr/>
          </p:nvSpPr>
          <p:spPr>
            <a:xfrm>
              <a:off x="4463263" y="2768050"/>
              <a:ext cx="1536600" cy="154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900">
                  <a:solidFill>
                    <a:schemeClr val="dk1"/>
                  </a:solidFill>
                  <a:latin typeface="Zalando Sans Expanded"/>
                  <a:ea typeface="Zalando Sans Expanded"/>
                  <a:cs typeface="Zalando Sans Expanded"/>
                  <a:sym typeface="Zalando Sans Expanded"/>
                </a:rPr>
                <a:t>PANTONE 419</a:t>
              </a:r>
              <a:endParaRPr b="1" sz="900">
                <a:solidFill>
                  <a:schemeClr val="dk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900">
                  <a:solidFill>
                    <a:schemeClr val="dk1"/>
                  </a:solidFill>
                  <a:latin typeface="Zalando Sans Expanded"/>
                  <a:ea typeface="Zalando Sans Expanded"/>
                  <a:cs typeface="Zalando Sans Expanded"/>
                  <a:sym typeface="Zalando Sans Expanded"/>
                </a:rPr>
                <a:t>HEX: </a:t>
              </a:r>
              <a:r>
                <a:rPr lang="es" sz="900">
                  <a:solidFill>
                    <a:schemeClr val="dk1"/>
                  </a:solidFill>
                  <a:latin typeface="Zalando Sans Expanded"/>
                  <a:ea typeface="Zalando Sans Expanded"/>
                  <a:cs typeface="Zalando Sans Expanded"/>
                  <a:sym typeface="Zalando Sans Expanded"/>
                </a:rPr>
                <a:t>#1D1D1B</a:t>
              </a:r>
              <a:br>
                <a:rPr lang="es" sz="900">
                  <a:solidFill>
                    <a:schemeClr val="dk1"/>
                  </a:solidFill>
                  <a:latin typeface="Zalando Sans Expanded"/>
                  <a:ea typeface="Zalando Sans Expanded"/>
                  <a:cs typeface="Zalando Sans Expanded"/>
                  <a:sym typeface="Zalando Sans Expanded"/>
                </a:rPr>
              </a:br>
              <a:endParaRPr sz="900">
                <a:solidFill>
                  <a:schemeClr val="dk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900">
                  <a:solidFill>
                    <a:schemeClr val="dk1"/>
                  </a:solidFill>
                  <a:latin typeface="Zalando Sans Expanded"/>
                  <a:ea typeface="Zalando Sans Expanded"/>
                  <a:cs typeface="Zalando Sans Expanded"/>
                  <a:sym typeface="Zalando Sans Expanded"/>
                </a:rPr>
                <a:t>Nombre: </a:t>
              </a:r>
              <a:r>
                <a:rPr lang="es" sz="900">
                  <a:solidFill>
                    <a:schemeClr val="dk1"/>
                  </a:solidFill>
                  <a:latin typeface="Zalando Sans Expanded"/>
                  <a:ea typeface="Zalando Sans Expanded"/>
                  <a:cs typeface="Zalando Sans Expanded"/>
                  <a:sym typeface="Zalando Sans Expanded"/>
                </a:rPr>
                <a:t>Negro profundo / Black</a:t>
              </a:r>
              <a:br>
                <a:rPr lang="es" sz="900">
                  <a:solidFill>
                    <a:schemeClr val="dk1"/>
                  </a:solidFill>
                  <a:latin typeface="Zalando Sans Expanded"/>
                  <a:ea typeface="Zalando Sans Expanded"/>
                  <a:cs typeface="Zalando Sans Expanded"/>
                  <a:sym typeface="Zalando Sans Expanded"/>
                </a:rPr>
              </a:br>
              <a:endParaRPr sz="900">
                <a:solidFill>
                  <a:schemeClr val="dk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900">
                  <a:solidFill>
                    <a:schemeClr val="dk1"/>
                  </a:solidFill>
                  <a:latin typeface="Zalando Sans Expanded"/>
                  <a:ea typeface="Zalando Sans Expanded"/>
                  <a:cs typeface="Zalando Sans Expanded"/>
                  <a:sym typeface="Zalando Sans Expanded"/>
                </a:rPr>
                <a:t>RGB: (</a:t>
              </a:r>
              <a:r>
                <a:rPr lang="es" sz="900">
                  <a:solidFill>
                    <a:schemeClr val="dk1"/>
                  </a:solidFill>
                  <a:latin typeface="Zalando Sans Expanded"/>
                  <a:ea typeface="Zalando Sans Expanded"/>
                  <a:cs typeface="Zalando Sans Expanded"/>
                  <a:sym typeface="Zalando Sans Expanded"/>
                </a:rPr>
                <a:t>29, 29, 27)</a:t>
              </a:r>
              <a:endParaRPr sz="900">
                <a:solidFill>
                  <a:schemeClr val="dk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dk2"/>
                </a:solidFill>
              </a:endParaRPr>
            </a:p>
          </p:txBody>
        </p:sp>
      </p:grpSp>
      <p:grpSp>
        <p:nvGrpSpPr>
          <p:cNvPr id="145" name="Google Shape;145;p21"/>
          <p:cNvGrpSpPr/>
          <p:nvPr/>
        </p:nvGrpSpPr>
        <p:grpSpPr>
          <a:xfrm>
            <a:off x="2647983" y="1581675"/>
            <a:ext cx="1605900" cy="2795325"/>
            <a:chOff x="2508351" y="1513225"/>
            <a:chExt cx="1605900" cy="2795325"/>
          </a:xfrm>
        </p:grpSpPr>
        <p:sp>
          <p:nvSpPr>
            <p:cNvPr id="146" name="Google Shape;146;p21"/>
            <p:cNvSpPr/>
            <p:nvPr/>
          </p:nvSpPr>
          <p:spPr>
            <a:xfrm>
              <a:off x="2739801" y="1513225"/>
              <a:ext cx="1143000" cy="1143000"/>
            </a:xfrm>
            <a:prstGeom prst="rect">
              <a:avLst/>
            </a:prstGeom>
            <a:solidFill>
              <a:srgbClr val="ED90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21"/>
            <p:cNvSpPr txBox="1"/>
            <p:nvPr/>
          </p:nvSpPr>
          <p:spPr>
            <a:xfrm>
              <a:off x="2508351" y="2768050"/>
              <a:ext cx="1605900" cy="154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00">
                  <a:solidFill>
                    <a:schemeClr val="dk1"/>
                  </a:solidFill>
                  <a:latin typeface="Zalando Sans Expanded"/>
                  <a:ea typeface="Zalando Sans Expanded"/>
                  <a:cs typeface="Zalando Sans Expanded"/>
                  <a:sym typeface="Zalando Sans Expanded"/>
                </a:rPr>
                <a:t>PANTONE Orange peel</a:t>
              </a:r>
              <a:endParaRPr b="1" sz="800">
                <a:solidFill>
                  <a:schemeClr val="dk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chemeClr val="dk1"/>
                  </a:solidFill>
                  <a:latin typeface="Zalando Sans Expanded"/>
                  <a:ea typeface="Zalando Sans Expanded"/>
                  <a:cs typeface="Zalando Sans Expanded"/>
                  <a:sym typeface="Zalando Sans Expanded"/>
                </a:rPr>
                <a:t>HEX: </a:t>
              </a:r>
              <a:r>
                <a:rPr lang="es" sz="800">
                  <a:solidFill>
                    <a:srgbClr val="444444"/>
                  </a:solidFill>
                  <a:latin typeface="Zalando Sans Expanded"/>
                  <a:ea typeface="Zalando Sans Expanded"/>
                  <a:cs typeface="Zalando Sans Expanded"/>
                  <a:sym typeface="Zalando Sans Expanded"/>
                </a:rPr>
                <a:t>#FA7A35</a:t>
              </a:r>
              <a:br>
                <a:rPr lang="es" sz="800">
                  <a:solidFill>
                    <a:schemeClr val="dk1"/>
                  </a:solidFill>
                  <a:latin typeface="Zalando Sans Expanded"/>
                  <a:ea typeface="Zalando Sans Expanded"/>
                  <a:cs typeface="Zalando Sans Expanded"/>
                  <a:sym typeface="Zalando Sans Expanded"/>
                </a:rPr>
              </a:br>
              <a:endParaRPr sz="800">
                <a:solidFill>
                  <a:schemeClr val="dk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chemeClr val="dk1"/>
                  </a:solidFill>
                  <a:latin typeface="Zalando Sans Expanded"/>
                  <a:ea typeface="Zalando Sans Expanded"/>
                  <a:cs typeface="Zalando Sans Expanded"/>
                  <a:sym typeface="Zalando Sans Expanded"/>
                </a:rPr>
                <a:t>Nombre: Blanco puro / White</a:t>
              </a:r>
              <a:br>
                <a:rPr lang="es" sz="800">
                  <a:solidFill>
                    <a:schemeClr val="dk1"/>
                  </a:solidFill>
                  <a:latin typeface="Zalando Sans Expanded"/>
                  <a:ea typeface="Zalando Sans Expanded"/>
                  <a:cs typeface="Zalando Sans Expanded"/>
                  <a:sym typeface="Zalando Sans Expanded"/>
                </a:rPr>
              </a:br>
              <a:endParaRPr sz="800">
                <a:solidFill>
                  <a:schemeClr val="dk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chemeClr val="dk1"/>
                  </a:solidFill>
                  <a:latin typeface="Zalando Sans Expanded"/>
                  <a:ea typeface="Zalando Sans Expanded"/>
                  <a:cs typeface="Zalando Sans Expanded"/>
                  <a:sym typeface="Zalando Sans Expanded"/>
                </a:rPr>
                <a:t>RGB: (255, 255, 255)</a:t>
              </a:r>
              <a:endParaRPr sz="800">
                <a:solidFill>
                  <a:schemeClr val="dk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dk2"/>
                </a:solidFill>
              </a:endParaRPr>
            </a:p>
          </p:txBody>
        </p:sp>
      </p:grpSp>
      <p:grpSp>
        <p:nvGrpSpPr>
          <p:cNvPr id="148" name="Google Shape;148;p21"/>
          <p:cNvGrpSpPr/>
          <p:nvPr/>
        </p:nvGrpSpPr>
        <p:grpSpPr>
          <a:xfrm>
            <a:off x="942050" y="1581675"/>
            <a:ext cx="1536600" cy="2795325"/>
            <a:chOff x="916500" y="1513225"/>
            <a:chExt cx="1536600" cy="2795325"/>
          </a:xfrm>
        </p:grpSpPr>
        <p:sp>
          <p:nvSpPr>
            <p:cNvPr id="149" name="Google Shape;149;p21"/>
            <p:cNvSpPr/>
            <p:nvPr/>
          </p:nvSpPr>
          <p:spPr>
            <a:xfrm>
              <a:off x="1113300" y="1513225"/>
              <a:ext cx="1143000" cy="1143000"/>
            </a:xfrm>
            <a:prstGeom prst="rect">
              <a:avLst/>
            </a:prstGeom>
            <a:solidFill>
              <a:srgbClr val="4563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21"/>
            <p:cNvSpPr txBox="1"/>
            <p:nvPr/>
          </p:nvSpPr>
          <p:spPr>
            <a:xfrm>
              <a:off x="916500" y="2768050"/>
              <a:ext cx="1536600" cy="154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00">
                  <a:solidFill>
                    <a:schemeClr val="dk1"/>
                  </a:solidFill>
                  <a:latin typeface="Zalando Sans Expanded"/>
                  <a:ea typeface="Zalando Sans Expanded"/>
                  <a:cs typeface="Zalando Sans Expanded"/>
                  <a:sym typeface="Zalando Sans Expanded"/>
                </a:rPr>
                <a:t>PANTONE 7687 C</a:t>
              </a:r>
              <a:br>
                <a:rPr lang="es" sz="800">
                  <a:solidFill>
                    <a:schemeClr val="dk1"/>
                  </a:solidFill>
                  <a:latin typeface="Zalando Sans Expanded"/>
                  <a:ea typeface="Zalando Sans Expanded"/>
                  <a:cs typeface="Zalando Sans Expanded"/>
                  <a:sym typeface="Zalando Sans Expanded"/>
                </a:rPr>
              </a:br>
              <a:r>
                <a:rPr lang="es" sz="800">
                  <a:solidFill>
                    <a:schemeClr val="dk1"/>
                  </a:solidFill>
                  <a:latin typeface="Zalando Sans Expanded"/>
                  <a:ea typeface="Zalando Sans Expanded"/>
                  <a:cs typeface="Zalando Sans Expanded"/>
                  <a:sym typeface="Zalando Sans Expanded"/>
                </a:rPr>
                <a:t>HEX: #4563AC</a:t>
              </a:r>
              <a:br>
                <a:rPr lang="es" sz="800">
                  <a:solidFill>
                    <a:schemeClr val="dk1"/>
                  </a:solidFill>
                  <a:latin typeface="Zalando Sans Expanded"/>
                  <a:ea typeface="Zalando Sans Expanded"/>
                  <a:cs typeface="Zalando Sans Expanded"/>
                  <a:sym typeface="Zalando Sans Expanded"/>
                </a:rPr>
              </a:br>
              <a:endParaRPr sz="800">
                <a:solidFill>
                  <a:schemeClr val="dk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chemeClr val="dk1"/>
                  </a:solidFill>
                  <a:latin typeface="Zalando Sans Expanded"/>
                  <a:ea typeface="Zalando Sans Expanded"/>
                  <a:cs typeface="Zalando Sans Expanded"/>
                  <a:sym typeface="Zalando Sans Expanded"/>
                </a:rPr>
                <a:t>Nombre: Azul medio profundo / Blue</a:t>
              </a:r>
              <a:br>
                <a:rPr lang="es" sz="800">
                  <a:solidFill>
                    <a:schemeClr val="dk1"/>
                  </a:solidFill>
                  <a:latin typeface="Zalando Sans Expanded"/>
                  <a:ea typeface="Zalando Sans Expanded"/>
                  <a:cs typeface="Zalando Sans Expanded"/>
                  <a:sym typeface="Zalando Sans Expanded"/>
                </a:rPr>
              </a:br>
              <a:endParaRPr sz="800">
                <a:solidFill>
                  <a:schemeClr val="dk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chemeClr val="dk1"/>
                  </a:solidFill>
                  <a:latin typeface="Zalando Sans Expanded"/>
                  <a:ea typeface="Zalando Sans Expanded"/>
                  <a:cs typeface="Zalando Sans Expanded"/>
                  <a:sym typeface="Zalando Sans Expanded"/>
                </a:rPr>
                <a:t>RGB: (69, 99, 172)</a:t>
              </a:r>
              <a:endParaRPr sz="800">
                <a:solidFill>
                  <a:schemeClr val="dk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900">
                <a:solidFill>
                  <a:schemeClr val="dk1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dk2"/>
                </a:solidFill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5" name="Google Shape;155;p22"/>
          <p:cNvCxnSpPr/>
          <p:nvPr/>
        </p:nvCxnSpPr>
        <p:spPr>
          <a:xfrm>
            <a:off x="4480775" y="-13475"/>
            <a:ext cx="12600" cy="528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6" name="Google Shape;156;p22"/>
          <p:cNvSpPr/>
          <p:nvPr/>
        </p:nvSpPr>
        <p:spPr>
          <a:xfrm>
            <a:off x="531275" y="1050275"/>
            <a:ext cx="7911600" cy="3674700"/>
          </a:xfrm>
          <a:prstGeom prst="roundRect">
            <a:avLst>
              <a:gd fmla="val 8932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2"/>
          <p:cNvSpPr txBox="1"/>
          <p:nvPr>
            <p:ph idx="1" type="body"/>
          </p:nvPr>
        </p:nvSpPr>
        <p:spPr>
          <a:xfrm>
            <a:off x="810775" y="1573000"/>
            <a:ext cx="4056300" cy="29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s" sz="900">
                <a:solidFill>
                  <a:schemeClr val="dk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Naranja</a:t>
            </a:r>
            <a:endParaRPr b="1" sz="900">
              <a:solidFill>
                <a:schemeClr val="dk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s" sz="900">
                <a:solidFill>
                  <a:schemeClr val="dk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Aporta identidad única y diferente</a:t>
            </a:r>
            <a:endParaRPr sz="900">
              <a:solidFill>
                <a:schemeClr val="dk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-2857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563AC"/>
              </a:buClr>
              <a:buSzPts val="900"/>
              <a:buFont typeface="Zalando Sans Expanded"/>
              <a:buChar char="●"/>
            </a:pPr>
            <a:r>
              <a:rPr lang="es" sz="900">
                <a:solidFill>
                  <a:srgbClr val="4563AC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Representa el trabajo de recolección de naranjas en la isla.</a:t>
            </a:r>
            <a:endParaRPr sz="900">
              <a:solidFill>
                <a:srgbClr val="4563AC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-2857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563AC"/>
              </a:buClr>
              <a:buSzPts val="900"/>
              <a:buFont typeface="Zalando Sans Expanded"/>
              <a:buChar char="●"/>
            </a:pPr>
            <a:r>
              <a:rPr lang="es" sz="900">
                <a:solidFill>
                  <a:srgbClr val="4563AC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Simboliza esfuerzo, constancia y sacrificio</a:t>
            </a:r>
            <a:endParaRPr sz="900">
              <a:solidFill>
                <a:srgbClr val="4563AC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s" sz="900">
                <a:solidFill>
                  <a:schemeClr val="dk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Azul</a:t>
            </a:r>
            <a:endParaRPr b="1" sz="900">
              <a:solidFill>
                <a:schemeClr val="dk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s" sz="900">
                <a:solidFill>
                  <a:schemeClr val="dk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La combinación naranja-azul expresa el equilibrio entre trabajo físico y disciplina mental.</a:t>
            </a:r>
            <a:endParaRPr sz="900">
              <a:solidFill>
                <a:schemeClr val="dk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-2857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563AC"/>
              </a:buClr>
              <a:buSzPts val="900"/>
              <a:buFont typeface="Zalando Sans Expanded"/>
              <a:buChar char="●"/>
            </a:pPr>
            <a:r>
              <a:rPr lang="es" sz="900">
                <a:solidFill>
                  <a:srgbClr val="4563AC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Respeta los colores tradicionales del Taekwon-Do ITF</a:t>
            </a:r>
            <a:endParaRPr sz="900">
              <a:solidFill>
                <a:srgbClr val="4563AC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-2857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563AC"/>
              </a:buClr>
              <a:buSzPts val="900"/>
              <a:buFont typeface="Zalando Sans Expanded"/>
              <a:buChar char="●"/>
            </a:pPr>
            <a:r>
              <a:rPr lang="es" sz="900">
                <a:solidFill>
                  <a:srgbClr val="4563AC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Simboliza calma, control y profundidad.</a:t>
            </a:r>
            <a:endParaRPr sz="900">
              <a:solidFill>
                <a:srgbClr val="4563AC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-2921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563AC"/>
              </a:buClr>
              <a:buSzPts val="1000"/>
              <a:buFont typeface="Zalando Sans Expanded"/>
              <a:buChar char="●"/>
            </a:pPr>
            <a:r>
              <a:rPr lang="es" sz="900">
                <a:solidFill>
                  <a:srgbClr val="4563AC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Rememora el color característico de Koguryo</a:t>
            </a:r>
            <a:r>
              <a:rPr lang="es" sz="1000">
                <a:solidFill>
                  <a:srgbClr val="4563AC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.</a:t>
            </a:r>
            <a:endParaRPr sz="1000">
              <a:solidFill>
                <a:srgbClr val="4563AC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000"/>
          </a:p>
        </p:txBody>
      </p:sp>
      <p:pic>
        <p:nvPicPr>
          <p:cNvPr id="158" name="Google Shape;158;p22"/>
          <p:cNvPicPr preferRelativeResize="0"/>
          <p:nvPr/>
        </p:nvPicPr>
        <p:blipFill rotWithShape="1">
          <a:blip r:embed="rId3">
            <a:alphaModFix/>
          </a:blip>
          <a:srcRect b="14861" l="38835" r="24926" t="23193"/>
          <a:stretch/>
        </p:blipFill>
        <p:spPr>
          <a:xfrm>
            <a:off x="5738175" y="1300750"/>
            <a:ext cx="2217677" cy="213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2"/>
          <p:cNvPicPr preferRelativeResize="0"/>
          <p:nvPr/>
        </p:nvPicPr>
        <p:blipFill rotWithShape="1">
          <a:blip r:embed="rId4">
            <a:alphaModFix/>
          </a:blip>
          <a:srcRect b="25032" l="37761" r="37922" t="32678"/>
          <a:stretch/>
        </p:blipFill>
        <p:spPr>
          <a:xfrm>
            <a:off x="4928950" y="2720675"/>
            <a:ext cx="1726248" cy="1688699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2"/>
          <p:cNvSpPr txBox="1"/>
          <p:nvPr>
            <p:ph type="title"/>
          </p:nvPr>
        </p:nvSpPr>
        <p:spPr>
          <a:xfrm>
            <a:off x="491075" y="477575"/>
            <a:ext cx="3899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s" sz="1520">
                <a:latin typeface="Zalando Sans Expanded Black"/>
                <a:ea typeface="Zalando Sans Expanded Black"/>
                <a:cs typeface="Zalando Sans Expanded Black"/>
                <a:sym typeface="Zalando Sans Expanded Black"/>
              </a:rPr>
              <a:t>SIGNIFICADO DEL LOGOTIPO</a:t>
            </a:r>
            <a:endParaRPr sz="1520">
              <a:latin typeface="Zalando Sans Expanded Black"/>
              <a:ea typeface="Zalando Sans Expanded Black"/>
              <a:cs typeface="Zalando Sans Expanded Black"/>
              <a:sym typeface="Zalando Sans Expanded Black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5" name="Google Shape;165;p23"/>
          <p:cNvCxnSpPr/>
          <p:nvPr/>
        </p:nvCxnSpPr>
        <p:spPr>
          <a:xfrm>
            <a:off x="4570350" y="-50575"/>
            <a:ext cx="3300" cy="531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6" name="Google Shape;166;p23"/>
          <p:cNvSpPr/>
          <p:nvPr/>
        </p:nvSpPr>
        <p:spPr>
          <a:xfrm>
            <a:off x="475200" y="1140525"/>
            <a:ext cx="8193600" cy="3546900"/>
          </a:xfrm>
          <a:prstGeom prst="roundRect">
            <a:avLst>
              <a:gd fmla="val 8932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3"/>
          <p:cNvSpPr txBox="1"/>
          <p:nvPr>
            <p:ph type="title"/>
          </p:nvPr>
        </p:nvSpPr>
        <p:spPr>
          <a:xfrm>
            <a:off x="373550" y="482275"/>
            <a:ext cx="324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s">
                <a:latin typeface="Zalando Sans Expanded Black"/>
                <a:ea typeface="Zalando Sans Expanded Black"/>
                <a:cs typeface="Zalando Sans Expanded Black"/>
                <a:sym typeface="Zalando Sans Expanded Black"/>
              </a:rPr>
              <a:t>TIPOGRAFÍA</a:t>
            </a:r>
            <a:endParaRPr>
              <a:latin typeface="Zalando Sans Expanded Black"/>
              <a:ea typeface="Zalando Sans Expanded Black"/>
              <a:cs typeface="Zalando Sans Expanded Black"/>
              <a:sym typeface="Zalando Sans Expanded Black"/>
            </a:endParaRPr>
          </a:p>
        </p:txBody>
      </p:sp>
      <p:sp>
        <p:nvSpPr>
          <p:cNvPr id="168" name="Google Shape;168;p23"/>
          <p:cNvSpPr txBox="1"/>
          <p:nvPr>
            <p:ph idx="1" type="body"/>
          </p:nvPr>
        </p:nvSpPr>
        <p:spPr>
          <a:xfrm>
            <a:off x="758450" y="1433025"/>
            <a:ext cx="3936600" cy="11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4400">
                <a:solidFill>
                  <a:schemeClr val="dk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Refuerza el concepto de rectitud y claridad:</a:t>
            </a:r>
            <a:endParaRPr sz="4400">
              <a:solidFill>
                <a:schemeClr val="dk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chemeClr val="dk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Zalando Sans Expanded"/>
              <a:buChar char="●"/>
            </a:pPr>
            <a:r>
              <a:rPr lang="es" sz="4400">
                <a:solidFill>
                  <a:schemeClr val="dk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Sans serif</a:t>
            </a:r>
            <a:endParaRPr sz="4400">
              <a:solidFill>
                <a:schemeClr val="dk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Zalando Sans Expanded"/>
              <a:buChar char="●"/>
            </a:pPr>
            <a:r>
              <a:rPr lang="es" sz="4400">
                <a:solidFill>
                  <a:schemeClr val="dk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De trazos rectos y firmes</a:t>
            </a:r>
            <a:endParaRPr sz="4400">
              <a:solidFill>
                <a:schemeClr val="dk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Zalando Sans Expanded"/>
              <a:buChar char="●"/>
            </a:pPr>
            <a:r>
              <a:rPr lang="es" sz="4400">
                <a:solidFill>
                  <a:schemeClr val="dk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Alta legibilidad</a:t>
            </a:r>
            <a:endParaRPr sz="4400">
              <a:solidFill>
                <a:schemeClr val="dk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</p:txBody>
      </p:sp>
      <p:sp>
        <p:nvSpPr>
          <p:cNvPr id="169" name="Google Shape;169;p23"/>
          <p:cNvSpPr txBox="1"/>
          <p:nvPr/>
        </p:nvSpPr>
        <p:spPr>
          <a:xfrm>
            <a:off x="4381775" y="2462025"/>
            <a:ext cx="3832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50">
                <a:solidFill>
                  <a:schemeClr val="dk1"/>
                </a:solidFill>
                <a:highlight>
                  <a:schemeClr val="lt1"/>
                </a:highlight>
                <a:latin typeface="Zalando Sans Expanded Black"/>
                <a:ea typeface="Zalando Sans Expanded Black"/>
                <a:cs typeface="Zalando Sans Expanded Black"/>
                <a:sym typeface="Zalando Sans Expanded Black"/>
              </a:rPr>
              <a:t>ABCDEFGHIJKLNOPQRSTUVWXYZ abcdefghijklnopqrstuvwxyz 1234567890</a:t>
            </a:r>
            <a:r>
              <a:rPr lang="es" sz="1250">
                <a:solidFill>
                  <a:srgbClr val="666666"/>
                </a:solidFill>
                <a:highlight>
                  <a:srgbClr val="F6F6F6"/>
                </a:highlight>
                <a:latin typeface="Zalando Sans Expanded Black"/>
                <a:ea typeface="Zalando Sans Expanded Black"/>
                <a:cs typeface="Zalando Sans Expanded Black"/>
                <a:sym typeface="Zalando Sans Expanded Black"/>
              </a:rPr>
              <a:t> </a:t>
            </a:r>
            <a:endParaRPr sz="1600">
              <a:latin typeface="Zalando Sans Expanded Black"/>
              <a:ea typeface="Zalando Sans Expanded Black"/>
              <a:cs typeface="Zalando Sans Expanded Black"/>
              <a:sym typeface="Zalando Sans Expanded Black"/>
            </a:endParaRPr>
          </a:p>
        </p:txBody>
      </p:sp>
      <p:sp>
        <p:nvSpPr>
          <p:cNvPr id="170" name="Google Shape;170;p23"/>
          <p:cNvSpPr txBox="1"/>
          <p:nvPr/>
        </p:nvSpPr>
        <p:spPr>
          <a:xfrm>
            <a:off x="1450550" y="2783675"/>
            <a:ext cx="2552400" cy="12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294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50">
                <a:solidFill>
                  <a:schemeClr val="dk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Zalando Sans Expanded</a:t>
            </a:r>
            <a:endParaRPr sz="2450">
              <a:solidFill>
                <a:schemeClr val="dk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50">
                <a:solidFill>
                  <a:srgbClr val="666666"/>
                </a:solidFill>
                <a:highlight>
                  <a:srgbClr val="F6F6F6"/>
                </a:highlight>
                <a:latin typeface="Zalando Sans Expanded"/>
                <a:ea typeface="Zalando Sans Expanded"/>
                <a:cs typeface="Zalando Sans Expanded"/>
                <a:sym typeface="Zalando Sans Expanded"/>
              </a:rPr>
              <a:t> </a:t>
            </a:r>
            <a:endParaRPr sz="2000">
              <a:latin typeface="Zalando Sans Expanded"/>
              <a:ea typeface="Zalando Sans Expanded"/>
              <a:cs typeface="Zalando Sans Expanded"/>
              <a:sym typeface="Zalando Sans Expanded"/>
            </a:endParaRPr>
          </a:p>
        </p:txBody>
      </p:sp>
      <p:sp>
        <p:nvSpPr>
          <p:cNvPr id="171" name="Google Shape;171;p23"/>
          <p:cNvSpPr txBox="1"/>
          <p:nvPr/>
        </p:nvSpPr>
        <p:spPr>
          <a:xfrm>
            <a:off x="4350725" y="3108450"/>
            <a:ext cx="3832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lt1"/>
                </a:highlight>
                <a:latin typeface="Zalando Sans Expanded"/>
                <a:ea typeface="Zalando Sans Expanded"/>
                <a:cs typeface="Zalando Sans Expanded"/>
                <a:sym typeface="Zalando Sans Expanded"/>
              </a:rPr>
              <a:t>ABCDEFGHIJKLNO PQRSTUVWXYZ abcdefghijklno pqrstuvwxyz 1234567890</a:t>
            </a:r>
            <a:r>
              <a:rPr lang="es" sz="1200">
                <a:solidFill>
                  <a:srgbClr val="666666"/>
                </a:solidFill>
                <a:highlight>
                  <a:srgbClr val="F6F6F6"/>
                </a:highlight>
                <a:latin typeface="Zalando Sans Expanded"/>
                <a:ea typeface="Zalando Sans Expanded"/>
                <a:cs typeface="Zalando Sans Expanded"/>
                <a:sym typeface="Zalando Sans Expanded"/>
              </a:rPr>
              <a:t> </a:t>
            </a:r>
            <a:endParaRPr sz="1200">
              <a:latin typeface="Zalando Sans Expanded"/>
              <a:ea typeface="Zalando Sans Expanded"/>
              <a:cs typeface="Zalando Sans Expanded"/>
              <a:sym typeface="Zalando Sans Expanded"/>
            </a:endParaRPr>
          </a:p>
        </p:txBody>
      </p:sp>
      <p:sp>
        <p:nvSpPr>
          <p:cNvPr id="172" name="Google Shape;172;p23"/>
          <p:cNvSpPr txBox="1"/>
          <p:nvPr/>
        </p:nvSpPr>
        <p:spPr>
          <a:xfrm>
            <a:off x="4350725" y="3662550"/>
            <a:ext cx="3832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lt1"/>
                </a:highlight>
                <a:latin typeface="Zalando Sans Expanded ExtraLight"/>
                <a:ea typeface="Zalando Sans Expanded ExtraLight"/>
                <a:cs typeface="Zalando Sans Expanded ExtraLight"/>
                <a:sym typeface="Zalando Sans Expanded ExtraLight"/>
              </a:rPr>
              <a:t>ABCDEFGHIJKLNO PQRSTUVWXYZ abcdefghijklno pqrstuvwxyz 1234567890</a:t>
            </a:r>
            <a:r>
              <a:rPr lang="es" sz="1200">
                <a:solidFill>
                  <a:srgbClr val="666666"/>
                </a:solidFill>
                <a:highlight>
                  <a:srgbClr val="F6F6F6"/>
                </a:highlight>
                <a:latin typeface="Zalando Sans Expanded ExtraLight"/>
                <a:ea typeface="Zalando Sans Expanded ExtraLight"/>
                <a:cs typeface="Zalando Sans Expanded ExtraLight"/>
                <a:sym typeface="Zalando Sans Expanded ExtraLight"/>
              </a:rPr>
              <a:t> </a:t>
            </a:r>
            <a:endParaRPr sz="1200">
              <a:latin typeface="Zalando Sans Expanded ExtraLight"/>
              <a:ea typeface="Zalando Sans Expanded ExtraLight"/>
              <a:cs typeface="Zalando Sans Expanded ExtraLight"/>
              <a:sym typeface="Zalando Sans Expanded ExtraLigh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7" name="Google Shape;177;p24"/>
          <p:cNvCxnSpPr/>
          <p:nvPr/>
        </p:nvCxnSpPr>
        <p:spPr>
          <a:xfrm>
            <a:off x="4669675" y="-42300"/>
            <a:ext cx="12300" cy="5228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8" name="Google Shape;178;p24"/>
          <p:cNvSpPr/>
          <p:nvPr/>
        </p:nvSpPr>
        <p:spPr>
          <a:xfrm>
            <a:off x="579025" y="1115650"/>
            <a:ext cx="8193600" cy="3546900"/>
          </a:xfrm>
          <a:prstGeom prst="roundRect">
            <a:avLst>
              <a:gd fmla="val 8932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4"/>
          <p:cNvSpPr txBox="1"/>
          <p:nvPr>
            <p:ph type="title"/>
          </p:nvPr>
        </p:nvSpPr>
        <p:spPr>
          <a:xfrm>
            <a:off x="579025" y="383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s">
                <a:latin typeface="Zalando Sans Expanded Black"/>
                <a:ea typeface="Zalando Sans Expanded Black"/>
                <a:cs typeface="Zalando Sans Expanded Black"/>
                <a:sym typeface="Zalando Sans Expanded Black"/>
              </a:rPr>
              <a:t>MODO DE USO</a:t>
            </a:r>
            <a:endParaRPr>
              <a:latin typeface="Zalando Sans Expanded Black"/>
              <a:ea typeface="Zalando Sans Expanded Black"/>
              <a:cs typeface="Zalando Sans Expanded Black"/>
              <a:sym typeface="Zalando Sans Expanded Black"/>
            </a:endParaRPr>
          </a:p>
        </p:txBody>
      </p:sp>
      <p:sp>
        <p:nvSpPr>
          <p:cNvPr id="180" name="Google Shape;180;p24"/>
          <p:cNvSpPr txBox="1"/>
          <p:nvPr/>
        </p:nvSpPr>
        <p:spPr>
          <a:xfrm>
            <a:off x="2492575" y="1276750"/>
            <a:ext cx="4366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Uso exclusivo cuando no sea posible aplicar color.</a:t>
            </a:r>
            <a:endParaRPr>
              <a:latin typeface="Zalando Sans Expanded"/>
              <a:ea typeface="Zalando Sans Expanded"/>
              <a:cs typeface="Zalando Sans Expanded"/>
              <a:sym typeface="Zalando Sans Expanded"/>
            </a:endParaRPr>
          </a:p>
        </p:txBody>
      </p:sp>
      <p:pic>
        <p:nvPicPr>
          <p:cNvPr id="181" name="Google Shape;181;p24"/>
          <p:cNvPicPr preferRelativeResize="0"/>
          <p:nvPr/>
        </p:nvPicPr>
        <p:blipFill rotWithShape="1">
          <a:blip r:embed="rId3">
            <a:alphaModFix/>
          </a:blip>
          <a:srcRect b="12366" l="2233" r="1502" t="7442"/>
          <a:stretch/>
        </p:blipFill>
        <p:spPr>
          <a:xfrm>
            <a:off x="1865438" y="1711150"/>
            <a:ext cx="5620776" cy="2633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6" name="Google Shape;186;p25"/>
          <p:cNvCxnSpPr/>
          <p:nvPr/>
        </p:nvCxnSpPr>
        <p:spPr>
          <a:xfrm>
            <a:off x="4669675" y="-42300"/>
            <a:ext cx="12300" cy="5228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" name="Google Shape;187;p25"/>
          <p:cNvSpPr/>
          <p:nvPr/>
        </p:nvSpPr>
        <p:spPr>
          <a:xfrm>
            <a:off x="327125" y="1115650"/>
            <a:ext cx="8572500" cy="3859500"/>
          </a:xfrm>
          <a:prstGeom prst="roundRect">
            <a:avLst>
              <a:gd fmla="val 8932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5"/>
          <p:cNvSpPr txBox="1"/>
          <p:nvPr>
            <p:ph type="title"/>
          </p:nvPr>
        </p:nvSpPr>
        <p:spPr>
          <a:xfrm>
            <a:off x="529550" y="488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s" sz="2220">
                <a:latin typeface="Zalando Sans Expanded Black"/>
                <a:ea typeface="Zalando Sans Expanded Black"/>
                <a:cs typeface="Zalando Sans Expanded Black"/>
                <a:sym typeface="Zalando Sans Expanded Black"/>
              </a:rPr>
              <a:t>IMPLEMENTACIONES</a:t>
            </a:r>
            <a:endParaRPr sz="2220">
              <a:latin typeface="Zalando Sans Expanded Black"/>
              <a:ea typeface="Zalando Sans Expanded Black"/>
              <a:cs typeface="Zalando Sans Expanded Black"/>
              <a:sym typeface="Zalando Sans Expanded Black"/>
            </a:endParaRPr>
          </a:p>
        </p:txBody>
      </p:sp>
      <p:pic>
        <p:nvPicPr>
          <p:cNvPr id="189" name="Google Shape;189;p25" title="ChatGPT Image 30 ene 2026, 10_09_59.png"/>
          <p:cNvPicPr preferRelativeResize="0"/>
          <p:nvPr/>
        </p:nvPicPr>
        <p:blipFill rotWithShape="1">
          <a:blip r:embed="rId3">
            <a:alphaModFix/>
          </a:blip>
          <a:srcRect b="0" l="14736" r="14623" t="0"/>
          <a:stretch/>
        </p:blipFill>
        <p:spPr>
          <a:xfrm>
            <a:off x="500313" y="1840300"/>
            <a:ext cx="2659576" cy="25098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90" name="Google Shape;190;p25" title="ChatGPT Image 30 ene 2026, 10_18_09.png"/>
          <p:cNvPicPr preferRelativeResize="0"/>
          <p:nvPr/>
        </p:nvPicPr>
        <p:blipFill rotWithShape="1">
          <a:blip r:embed="rId4">
            <a:alphaModFix/>
          </a:blip>
          <a:srcRect b="0" l="13825" r="13300" t="0"/>
          <a:stretch/>
        </p:blipFill>
        <p:spPr>
          <a:xfrm>
            <a:off x="6030962" y="1887725"/>
            <a:ext cx="2639773" cy="24150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91" name="Google Shape;191;p25" title="ChatGPT Image 30 ene 2026, 10_24_4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68663" y="1380213"/>
            <a:ext cx="3330376" cy="33303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6"/>
          <p:cNvSpPr txBox="1"/>
          <p:nvPr>
            <p:ph idx="1" type="body"/>
          </p:nvPr>
        </p:nvSpPr>
        <p:spPr>
          <a:xfrm>
            <a:off x="311700" y="11803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s" sz="1030">
                <a:solidFill>
                  <a:schemeClr val="lt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JEJU</a:t>
            </a:r>
            <a:r>
              <a:rPr lang="es" sz="1030">
                <a:solidFill>
                  <a:schemeClr val="lt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 nace de una raíz profunda.</a:t>
            </a:r>
            <a:endParaRPr sz="1030">
              <a:solidFill>
                <a:schemeClr val="lt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s" sz="1030">
                <a:solidFill>
                  <a:schemeClr val="lt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De la disciplina, la rectitud y el Do.</a:t>
            </a:r>
            <a:endParaRPr sz="1030">
              <a:solidFill>
                <a:schemeClr val="lt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s" sz="1030">
                <a:solidFill>
                  <a:schemeClr val="lt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Entrenar no es acumular técnicas.</a:t>
            </a:r>
            <a:endParaRPr sz="1030">
              <a:solidFill>
                <a:schemeClr val="lt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s" sz="1030">
                <a:solidFill>
                  <a:schemeClr val="lt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Es elegir un camino y sostenerlo.</a:t>
            </a:r>
            <a:endParaRPr sz="1030">
              <a:solidFill>
                <a:schemeClr val="lt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s" sz="1030">
                <a:solidFill>
                  <a:schemeClr val="lt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Porque el carácter no aparece al final.</a:t>
            </a:r>
            <a:endParaRPr sz="1030">
              <a:solidFill>
                <a:schemeClr val="lt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s" sz="1030">
                <a:solidFill>
                  <a:schemeClr val="lt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Se construye paso a paso.</a:t>
            </a:r>
            <a:endParaRPr sz="1030">
              <a:solidFill>
                <a:schemeClr val="lt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s" sz="1030">
                <a:solidFill>
                  <a:schemeClr val="lt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En </a:t>
            </a:r>
            <a:r>
              <a:rPr b="1" lang="es" sz="1030">
                <a:solidFill>
                  <a:schemeClr val="lt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JEJU </a:t>
            </a:r>
            <a:r>
              <a:rPr lang="es" sz="1030">
                <a:solidFill>
                  <a:schemeClr val="lt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no buscamos atajos.</a:t>
            </a:r>
            <a:endParaRPr sz="1030">
              <a:solidFill>
                <a:schemeClr val="lt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s" sz="1030">
                <a:solidFill>
                  <a:schemeClr val="lt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Buscamos sentido por qué…</a:t>
            </a:r>
            <a:endParaRPr sz="1030">
              <a:solidFill>
                <a:schemeClr val="lt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030">
              <a:solidFill>
                <a:schemeClr val="lt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b="1" lang="es" sz="1030">
                <a:solidFill>
                  <a:schemeClr val="lt1"/>
                </a:solidFill>
                <a:latin typeface="Zalando Sans Expanded"/>
                <a:ea typeface="Zalando Sans Expanded"/>
                <a:cs typeface="Zalando Sans Expanded"/>
                <a:sym typeface="Zalando Sans Expanded"/>
              </a:rPr>
              <a:t>el camino importa.</a:t>
            </a:r>
            <a:endParaRPr b="1" sz="1030">
              <a:solidFill>
                <a:schemeClr val="lt1"/>
              </a:solidFill>
              <a:latin typeface="Zalando Sans Expanded"/>
              <a:ea typeface="Zalando Sans Expanded"/>
              <a:cs typeface="Zalando Sans Expanded"/>
              <a:sym typeface="Zalando Sans Expanded"/>
            </a:endParaRPr>
          </a:p>
        </p:txBody>
      </p:sp>
      <p:cxnSp>
        <p:nvCxnSpPr>
          <p:cNvPr id="197" name="Google Shape;197;p26"/>
          <p:cNvCxnSpPr/>
          <p:nvPr/>
        </p:nvCxnSpPr>
        <p:spPr>
          <a:xfrm>
            <a:off x="4572000" y="0"/>
            <a:ext cx="0" cy="1041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198" name="Google Shape;198;p26" title="blanco.png"/>
          <p:cNvPicPr preferRelativeResize="0"/>
          <p:nvPr/>
        </p:nvPicPr>
        <p:blipFill>
          <a:blip r:embed="rId3">
            <a:alphaModFix amt="13000"/>
          </a:blip>
          <a:stretch>
            <a:fillRect/>
          </a:stretch>
        </p:blipFill>
        <p:spPr>
          <a:xfrm>
            <a:off x="2558850" y="859232"/>
            <a:ext cx="4026300" cy="354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